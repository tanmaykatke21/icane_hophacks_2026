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aa4c43d1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baa4c43d1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baa4c43d1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aa4c43d1_3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baa4c43d1_3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baa4c43d1_3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aa4c43d1_3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baa4c43d1_3_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website pulled up and highlight conclusion</a:t>
            </a:r>
            <a:endParaRPr/>
          </a:p>
        </p:txBody>
      </p:sp>
      <p:sp>
        <p:nvSpPr>
          <p:cNvPr id="87" name="Google Shape;87;g3fbaa4c43d1_3_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aa4c43d1_3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baa4c43d1_3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baa4c43d1_3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aa4c43d1_3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baa4c43d1_3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baa4c43d1_3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aa4c43d1_3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baa4c43d1_3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baa4c43d1_3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aa4c43d1_3_1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fbaa4c43d1_3_1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baa4c43d1_3_1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af762823_0_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baf762823_0_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baf762823_0_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baa4c43d1_3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baa4c43d1_3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baa4c43d1_3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hyperlink" Target="https://pubmed.ncbi.nlm.nih.gov/25803713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Pwa0uKuK56E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://www.youtube.com/watch?v=Wt_3BFSPVu8" TargetMode="External"/><Relationship Id="rId6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18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806440" y="73152"/>
            <a:ext cx="2560320" cy="256032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172200" y="438912"/>
            <a:ext cx="1828800" cy="182880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537960" y="804672"/>
            <a:ext cx="1097280" cy="109728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022592" y="1097280"/>
            <a:ext cx="128016" cy="3749040"/>
          </a:xfrm>
          <a:prstGeom prst="rect">
            <a:avLst/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6629400" y="1097280"/>
            <a:ext cx="914400" cy="1737360"/>
          </a:xfrm>
          <a:prstGeom prst="roundRect">
            <a:avLst>
              <a:gd fmla="val 12000" name="adj"/>
            </a:avLst>
          </a:prstGeom>
          <a:solidFill>
            <a:srgbClr val="232833"/>
          </a:solidFill>
          <a:ln cap="flat" cmpd="sng" w="254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537960" y="2468880"/>
            <a:ext cx="1097280" cy="201168"/>
          </a:xfrm>
          <a:prstGeom prst="roundRect">
            <a:avLst>
              <a:gd fmla="val 22727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6995160" y="1261872"/>
            <a:ext cx="182880" cy="1828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640080" y="822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C93C"/>
                </a:solidFill>
                <a:latin typeface="Calibri"/>
                <a:ea typeface="Calibri"/>
                <a:cs typeface="Calibri"/>
                <a:sym typeface="Calibri"/>
              </a:rPr>
              <a:t>HOPHACKS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640080" y="1794510"/>
            <a:ext cx="5120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b="1" i="0" lang="en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640080" y="2617595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A phone, a clamp, and the cane you already have.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640080" y="4389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Tanmay  ·  Abhishek  ·  Yakshil  ·  Abigail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 cane only sees what it touches.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48640" y="1554480"/>
            <a:ext cx="3840480" cy="2834640"/>
          </a:xfrm>
          <a:prstGeom prst="roundRect">
            <a:avLst>
              <a:gd fmla="val 4839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914400" y="1874520"/>
            <a:ext cx="868680" cy="8686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570" y="20916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914400" y="2926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Overhead a</a:t>
            </a:r>
            <a:r>
              <a:rPr b="1" lang="en" sz="22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lert!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914400" y="33832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stick on the ground can't warn you about a low overhang at head height.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754880" y="1554480"/>
            <a:ext cx="3840480" cy="2834640"/>
          </a:xfrm>
          <a:prstGeom prst="roundRect">
            <a:avLst>
              <a:gd fmla="val 4839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120640" y="1874520"/>
            <a:ext cx="868680" cy="8686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7810" y="20916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120640" y="2926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Blind to the side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120640" y="33832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Someone can walk straight into you after your cane has already cleared the space ahead.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731520" y="1600200"/>
            <a:ext cx="1554480" cy="15544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19888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2834640" y="1280160"/>
            <a:ext cx="5669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People with visual impairments face a higher risk of serious life events.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834640" y="28803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2400"/>
              <a:buFont typeface="Calibri"/>
              <a:buNone/>
            </a:pPr>
            <a:r>
              <a:rPr lang="en" sz="2400">
                <a:solidFill>
                  <a:srgbClr val="FFC93C"/>
                </a:solidFill>
                <a:latin typeface="Calibri"/>
                <a:ea typeface="Calibri"/>
                <a:cs typeface="Calibri"/>
                <a:sym typeface="Calibri"/>
              </a:rPr>
              <a:t>Especially</a:t>
            </a:r>
            <a:r>
              <a:rPr b="0" i="0" lang="en" sz="2400" u="none" cap="none" strike="noStrike">
                <a:solidFill>
                  <a:srgbClr val="FFC93C"/>
                </a:solidFill>
                <a:latin typeface="Calibri"/>
                <a:ea typeface="Calibri"/>
                <a:cs typeface="Calibri"/>
                <a:sym typeface="Calibri"/>
              </a:rPr>
              <a:t> traffic-related accidents.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834640" y="4114800"/>
            <a:ext cx="566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200" u="sng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National Library of Medicine</a:t>
            </a:r>
            <a:endParaRPr b="0" i="0" sz="1200" u="none" cap="none" strike="noStrike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lang="en" sz="36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eal </a:t>
            </a:r>
            <a:r>
              <a:rPr b="1" lang="en" sz="36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world problems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1233521" y="3861075"/>
            <a:ext cx="22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 situational awareness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587150" y="3861075"/>
            <a:ext cx="392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Reliance on tactile lines that others disrespect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8" title="What does it mean to keep the tactile￼ lines for the blind free?￼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875" y="1563488"/>
            <a:ext cx="3584950" cy="20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5633100" y="4109950"/>
            <a:ext cx="18285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From Mr. Blind Life on YouTube</a:t>
            </a:r>
            <a:endParaRPr sz="1000">
              <a:solidFill>
                <a:srgbClr val="9AA3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233525" y="4109950"/>
            <a:ext cx="2215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From @twoblindbrothers on Instagram</a:t>
            </a:r>
            <a:endParaRPr sz="1000">
              <a:solidFill>
                <a:srgbClr val="9AA3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8" title="no situational awareness example from twoblindbrothers on instagra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50" y="1563488"/>
            <a:ext cx="3584950" cy="201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45720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All we need is a phone and a clamp.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57200" y="1417320"/>
            <a:ext cx="2560320" cy="233172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731520" y="2514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Clamp it 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731520" y="2926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Any phone, any cane. Nothing custom to build or buy.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3291840" y="1417320"/>
            <a:ext cx="2560320" cy="233172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3566160" y="2514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i="0" lang="en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atches ahead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566160" y="2926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camera scans continuously and AI vision flags hazards.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126480" y="1417320"/>
            <a:ext cx="2560320" cy="233172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6400800" y="1645920"/>
            <a:ext cx="731520" cy="7315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6400800" y="2514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i="0" lang="en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ear changes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6400800" y="2926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Alerts only when something new appears, so it never turns into 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fmla="val 50000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51C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12151C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" sz="1800" u="none" cap="none" strike="noStrike">
                <a:solidFill>
                  <a:srgbClr val="12151C"/>
                </a:solidFill>
                <a:latin typeface="Calibri"/>
                <a:ea typeface="Calibri"/>
                <a:cs typeface="Calibri"/>
                <a:sym typeface="Calibri"/>
              </a:rPr>
              <a:t>ap a button anytime </a:t>
            </a:r>
            <a:r>
              <a:rPr b="1" lang="en" sz="1800">
                <a:solidFill>
                  <a:srgbClr val="12151C"/>
                </a:solidFill>
                <a:latin typeface="Calibri"/>
                <a:ea typeface="Calibri"/>
                <a:cs typeface="Calibri"/>
                <a:sym typeface="Calibri"/>
              </a:rPr>
              <a:t>for a scan of your environment.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45720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Live demo: what you'll hear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5720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64008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Static object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4008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Calls it out with direction and </a:t>
            </a: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distance.</a:t>
            </a: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256032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274320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893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274320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Person approaching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274320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Warns as they close in</a:t>
            </a: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466344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484632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Stairs and curbs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84632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Flags the </a:t>
            </a: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elevation change </a:t>
            </a: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before you </a:t>
            </a: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766560" y="13716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949440" y="150876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5170" y="16344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Low overhang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6949440" y="23774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Catches what the cane can't reach.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5720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81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64008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Door 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4008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Tells you where the door 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56032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274320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893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274320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Floor clutter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74320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Calls out items on the ground.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66344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205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84632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Nothing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84632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Says “clear”.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766560" y="301752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1B1F2A"/>
          </a:solidFill>
          <a:ln cap="flat" cmpd="sng" w="1270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6949440" y="3154680"/>
            <a:ext cx="502920" cy="50292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75170" y="32804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6949440" y="3749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Tap and ask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949440" y="402336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Describes the full scene on demand.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457200" y="365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Why not what exists today?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57200" y="1371600"/>
            <a:ext cx="2560320" cy="3154680"/>
          </a:xfrm>
          <a:prstGeom prst="roundRect">
            <a:avLst>
              <a:gd fmla="val 5357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3152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Be My Eyes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731520" y="2011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mbria"/>
              <a:buNone/>
            </a:pPr>
            <a:r>
              <a:rPr b="1" lang="en" sz="22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Relies on another human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731520" y="26974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Depends on an available person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High latency</a:t>
            </a: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due to the live call function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291840" y="1371600"/>
            <a:ext cx="2560320" cy="3154680"/>
          </a:xfrm>
          <a:prstGeom prst="roundRect">
            <a:avLst>
              <a:gd fmla="val 5357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356616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WeWALK Smart Cane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566160" y="2011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$799 to $1,249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566160" y="26974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Base price of</a:t>
            </a: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$799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With AI included: up to $1,249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Char char="•"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arlier model ($</a:t>
            </a: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599.95) </a:t>
            </a:r>
            <a:r>
              <a:rPr b="0" i="0" lang="en" sz="14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 longer offered on the official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126480" y="1371600"/>
            <a:ext cx="2560320" cy="3154680"/>
          </a:xfrm>
          <a:prstGeom prst="roundRect">
            <a:avLst>
              <a:gd fmla="val 5357" name="adj"/>
            </a:avLst>
          </a:prstGeom>
          <a:solidFill>
            <a:srgbClr val="1B1F2A"/>
          </a:solidFill>
          <a:ln cap="flat" cmpd="sng" w="12700">
            <a:solidFill>
              <a:srgbClr val="1B1F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6400800" y="20116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Phone + clamp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400800" y="2697480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C9CED8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Always on</a:t>
            </a: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no call nee</a:t>
            </a:r>
            <a:r>
              <a:rPr lang="en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C9CED8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Uses the phone you already 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C9CED8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C9CED8"/>
                </a:solidFill>
                <a:latin typeface="Calibri"/>
                <a:ea typeface="Calibri"/>
                <a:cs typeface="Calibri"/>
                <a:sym typeface="Calibri"/>
              </a:rPr>
              <a:t>Hands-free hazard alerts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457200" y="36576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600"/>
              <a:buFont typeface="Cambria"/>
              <a:buNone/>
            </a:pPr>
            <a:r>
              <a:rPr b="1" lang="en" sz="36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Where we take it next</a:t>
            </a:r>
            <a:endParaRPr b="1" sz="3600">
              <a:solidFill>
                <a:srgbClr val="1B1F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457200" y="1417325"/>
            <a:ext cx="2560200" cy="244800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731520" y="1645920"/>
            <a:ext cx="731400" cy="73140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31525" y="2468850"/>
            <a:ext cx="222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Device compatibility</a:t>
            </a:r>
            <a:endParaRPr b="1" sz="2000">
              <a:solidFill>
                <a:srgbClr val="1B1F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731495" y="2834642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Implement with other devices that have built-in cameras (e.g. Meta glasses).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291850" y="1417325"/>
            <a:ext cx="2560200" cy="244800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3566160" y="1645920"/>
            <a:ext cx="731400" cy="73140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3566160" y="246885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Lidar detection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3566148" y="2834630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Better depth perception without relying solely on computer vision.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126475" y="1417325"/>
            <a:ext cx="2560200" cy="2448000"/>
          </a:xfrm>
          <a:prstGeom prst="roundRect">
            <a:avLst>
              <a:gd fmla="val 5882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6400800" y="1645920"/>
            <a:ext cx="731400" cy="73140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400800" y="246885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Personalization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6400800" y="2834652"/>
            <a:ext cx="21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Create an audio-guided accessibility settings page to adjust the voice, speed, volume, and vibration.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57200" y="4023360"/>
            <a:ext cx="8229600" cy="548700"/>
          </a:xfrm>
          <a:prstGeom prst="roundRect">
            <a:avLst>
              <a:gd fmla="val 50000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457200" y="40233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2151C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12151C"/>
                </a:solidFill>
                <a:latin typeface="Calibri"/>
                <a:ea typeface="Calibri"/>
                <a:cs typeface="Calibri"/>
                <a:sym typeface="Calibri"/>
              </a:rPr>
              <a:t>Next step: test and design with blind and low-vision users.</a:t>
            </a:r>
            <a:endParaRPr b="1" sz="1800">
              <a:solidFill>
                <a:srgbClr val="1215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863" y="172590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6485" y="1840232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3863" y="1772275"/>
            <a:ext cx="455988" cy="45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5806440" y="73152"/>
            <a:ext cx="2560320" cy="256032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6172200" y="438912"/>
            <a:ext cx="1828800" cy="182880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6537960" y="804672"/>
            <a:ext cx="1097280" cy="1097280"/>
          </a:xfrm>
          <a:prstGeom prst="ellipse">
            <a:avLst/>
          </a:prstGeom>
          <a:solidFill>
            <a:srgbClr val="12151C">
              <a:alpha val="0"/>
            </a:srgbClr>
          </a:solidFill>
          <a:ln cap="flat" cmpd="sng" w="19050">
            <a:solidFill>
              <a:srgbClr val="FFC93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7022592" y="1097280"/>
            <a:ext cx="128016" cy="3749040"/>
          </a:xfrm>
          <a:prstGeom prst="rect">
            <a:avLst/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6629400" y="1097280"/>
            <a:ext cx="914400" cy="1737360"/>
          </a:xfrm>
          <a:prstGeom prst="roundRect">
            <a:avLst>
              <a:gd fmla="val 12000" name="adj"/>
            </a:avLst>
          </a:prstGeom>
          <a:solidFill>
            <a:srgbClr val="232833"/>
          </a:solidFill>
          <a:ln cap="flat" cmpd="sng" w="254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537960" y="2468880"/>
            <a:ext cx="1097280" cy="201168"/>
          </a:xfrm>
          <a:prstGeom prst="roundRect">
            <a:avLst>
              <a:gd fmla="val 22727" name="adj"/>
            </a:avLst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6995160" y="1261872"/>
            <a:ext cx="182880" cy="182880"/>
          </a:xfrm>
          <a:prstGeom prst="ellipse">
            <a:avLst/>
          </a:prstGeom>
          <a:solidFill>
            <a:srgbClr val="FFC93C"/>
          </a:solidFill>
          <a:ln cap="flat" cmpd="sng" w="12700">
            <a:solidFill>
              <a:srgbClr val="FFC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40080" y="128016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cane </a:t>
            </a:r>
            <a:r>
              <a:rPr b="1" lang="en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only </a:t>
            </a: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tells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it touches.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Now it can </a:t>
            </a:r>
            <a:r>
              <a:rPr b="1" lang="en" sz="3400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i="0" lang="en" sz="34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ell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93C"/>
              </a:buClr>
              <a:buSzPts val="3400"/>
              <a:buFont typeface="Cambria"/>
              <a:buNone/>
            </a:pPr>
            <a:r>
              <a:rPr b="1" i="0" lang="en" sz="3400" u="none" cap="none" strike="noStrike">
                <a:solidFill>
                  <a:srgbClr val="FFC93C"/>
                </a:solidFill>
                <a:latin typeface="Cambria"/>
                <a:ea typeface="Cambria"/>
                <a:cs typeface="Cambria"/>
                <a:sym typeface="Cambria"/>
              </a:rPr>
              <a:t>what's ahead.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640080" y="4389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Tanmay  ·  Abhishek  ·  Yakshil  ·  Abigail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