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baa4c43d1_3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baa4c43d1_3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baa4c43d1_3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aa4c43d1_3_1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3fbaa4c43d1_3_1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3fbaa4c43d1_3_1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baa4c43d1_3_3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fbaa4c43d1_3_3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website pulled up and highlight conclusion</a:t>
            </a:r>
            <a:endParaRPr/>
          </a:p>
        </p:txBody>
      </p:sp>
      <p:sp>
        <p:nvSpPr>
          <p:cNvPr id="87" name="Google Shape;87;g3fbaa4c43d1_3_3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baa4c43d1_3_4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3fbaa4c43d1_3_4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fbaa4c43d1_3_4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baa4c43d1_3_5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fbaa4c43d1_3_5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baa4c43d1_3_5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baa4c43d1_3_7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g3fbaa4c43d1_3_7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fbaa4c43d1_3_7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baa4c43d1_3_12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fbaa4c43d1_3_12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baa4c43d1_3_12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baa4c43d1_10_3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fbaa4c43d1_10_3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fbaa4c43d1_10_3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baa4c43d1_3_13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fbaa4c43d1_3_13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fbaa4c43d1_3_13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pubmed.ncbi.nlm.nih.gov/25803713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www.youtube.com/watch?v=Pwa0uKuK56E" TargetMode="External"/><Relationship Id="rId4" Type="http://schemas.openxmlformats.org/officeDocument/2006/relationships/image" Target="../media/image4.jpg"/><Relationship Id="rId5" Type="http://schemas.openxmlformats.org/officeDocument/2006/relationships/hyperlink" Target="http://www.youtube.com/watch?v=Wt_3BFSPVu8" TargetMode="External"/><Relationship Id="rId6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10" Type="http://schemas.openxmlformats.org/officeDocument/2006/relationships/image" Target="../media/image18.png"/><Relationship Id="rId9" Type="http://schemas.openxmlformats.org/officeDocument/2006/relationships/image" Target="../media/image17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1C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5806440" y="73152"/>
            <a:ext cx="2560320" cy="256032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6172200" y="438912"/>
            <a:ext cx="1828800" cy="182880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5"/>
          <p:cNvSpPr/>
          <p:nvPr/>
        </p:nvSpPr>
        <p:spPr>
          <a:xfrm>
            <a:off x="6537960" y="804672"/>
            <a:ext cx="1097280" cy="109728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7022592" y="1097280"/>
            <a:ext cx="128016" cy="3749040"/>
          </a:xfrm>
          <a:prstGeom prst="rect">
            <a:avLst/>
          </a:prstGeom>
          <a:solidFill>
            <a:srgbClr val="C9CED8"/>
          </a:solidFill>
          <a:ln cap="flat" cmpd="sng" w="12700">
            <a:solidFill>
              <a:srgbClr val="C9C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5"/>
          <p:cNvSpPr/>
          <p:nvPr/>
        </p:nvSpPr>
        <p:spPr>
          <a:xfrm>
            <a:off x="6629400" y="1097280"/>
            <a:ext cx="914400" cy="1737360"/>
          </a:xfrm>
          <a:prstGeom prst="roundRect">
            <a:avLst>
              <a:gd fmla="val 12000" name="adj"/>
            </a:avLst>
          </a:prstGeom>
          <a:solidFill>
            <a:srgbClr val="232833"/>
          </a:solidFill>
          <a:ln cap="flat" cmpd="sng" w="254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6537960" y="2468880"/>
            <a:ext cx="1097280" cy="201168"/>
          </a:xfrm>
          <a:prstGeom prst="roundRect">
            <a:avLst>
              <a:gd fmla="val 22727" name="adj"/>
            </a:avLst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6995160" y="1261872"/>
            <a:ext cx="182880" cy="18288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/>
        </p:nvSpPr>
        <p:spPr>
          <a:xfrm>
            <a:off x="640080" y="8229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93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C93C"/>
                </a:solidFill>
                <a:latin typeface="Calibri"/>
                <a:ea typeface="Calibri"/>
                <a:cs typeface="Calibri"/>
                <a:sym typeface="Calibri"/>
              </a:rPr>
              <a:t>HOPHACKS 2026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640080" y="1794510"/>
            <a:ext cx="51207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lang="en" sz="4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</a:t>
            </a:r>
            <a:r>
              <a:rPr b="1" i="0" lang="en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Cane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640080" y="2617595"/>
            <a:ext cx="5394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ED8"/>
              </a:buClr>
              <a:buSzPts val="2000"/>
              <a:buFont typeface="Calibri"/>
              <a:buNone/>
            </a:pPr>
            <a:r>
              <a:rPr b="0" i="0" lang="en" sz="20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A phone, a clamp, and the cane you already have.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640080" y="4389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A3B2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9AA3B2"/>
                </a:solidFill>
                <a:latin typeface="Calibri"/>
                <a:ea typeface="Calibri"/>
                <a:cs typeface="Calibri"/>
                <a:sym typeface="Calibri"/>
              </a:rPr>
              <a:t>Tanmay  ·  Abhishek  ·  Yakshil  ·  Abigail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548640" y="3657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i="0" lang="en" sz="36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A cane only sees what it touches.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548640" y="1554480"/>
            <a:ext cx="3840480" cy="2834640"/>
          </a:xfrm>
          <a:prstGeom prst="roundRect">
            <a:avLst>
              <a:gd fmla="val 4839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914400" y="1874520"/>
            <a:ext cx="868680" cy="86868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1570" y="209169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914400" y="292608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Overhead a</a:t>
            </a:r>
            <a:r>
              <a:rPr b="1" lang="en" sz="22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lert!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914400" y="338328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600"/>
              <a:buFont typeface="Calibri"/>
              <a:buNone/>
            </a:pPr>
            <a:r>
              <a:rPr b="0" i="0" lang="en" sz="16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 stick on the ground can't warn you about a low overhang at head height.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4754880" y="1554480"/>
            <a:ext cx="3840480" cy="2834640"/>
          </a:xfrm>
          <a:prstGeom prst="roundRect">
            <a:avLst>
              <a:gd fmla="val 4839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5120640" y="1874520"/>
            <a:ext cx="868680" cy="86868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" name="Google Shape;8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7810" y="209169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 txBox="1"/>
          <p:nvPr/>
        </p:nvSpPr>
        <p:spPr>
          <a:xfrm>
            <a:off x="5120640" y="292608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Blind to the side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5120640" y="338328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600"/>
              <a:buFont typeface="Calibri"/>
              <a:buNone/>
            </a:pPr>
            <a:r>
              <a:rPr b="0" i="0" lang="en" sz="16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Someone can walk straight into you after your cane has already cleared the space ahead.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1C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/>
          <p:nvPr/>
        </p:nvSpPr>
        <p:spPr>
          <a:xfrm>
            <a:off x="731520" y="1600200"/>
            <a:ext cx="1554480" cy="155448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0" name="Google Shape;9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" y="1988820"/>
            <a:ext cx="777240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7"/>
          <p:cNvSpPr txBox="1"/>
          <p:nvPr/>
        </p:nvSpPr>
        <p:spPr>
          <a:xfrm>
            <a:off x="2834640" y="1280160"/>
            <a:ext cx="56692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People with visual impairments face a higher risk of serious life events.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2834640" y="2880360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93C"/>
              </a:buClr>
              <a:buSzPts val="2400"/>
              <a:buFont typeface="Calibri"/>
              <a:buNone/>
            </a:pPr>
            <a:r>
              <a:rPr lang="en" sz="2400">
                <a:solidFill>
                  <a:srgbClr val="FFC93C"/>
                </a:solidFill>
                <a:latin typeface="Calibri"/>
                <a:ea typeface="Calibri"/>
                <a:cs typeface="Calibri"/>
                <a:sym typeface="Calibri"/>
              </a:rPr>
              <a:t>Especially</a:t>
            </a:r>
            <a:r>
              <a:rPr b="0" i="0" lang="en" sz="2400" u="none" cap="none" strike="noStrike">
                <a:solidFill>
                  <a:srgbClr val="FFC93C"/>
                </a:solidFill>
                <a:latin typeface="Calibri"/>
                <a:ea typeface="Calibri"/>
                <a:cs typeface="Calibri"/>
                <a:sym typeface="Calibri"/>
              </a:rPr>
              <a:t> traffic-related accidents.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2834640" y="4114800"/>
            <a:ext cx="566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A3B2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9AA3B2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rgbClr val="6FA8DC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National Library of Medicine</a:t>
            </a:r>
            <a:endParaRPr b="0" i="0" sz="1200" u="none" cap="none" strike="noStrike">
              <a:solidFill>
                <a:srgbClr val="6FA8D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/>
        </p:nvSpPr>
        <p:spPr>
          <a:xfrm>
            <a:off x="548640" y="3657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lang="en" sz="3600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R</a:t>
            </a:r>
            <a:r>
              <a:rPr b="1" i="0" lang="en" sz="36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eal </a:t>
            </a:r>
            <a:r>
              <a:rPr b="1" lang="en" sz="3600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world problems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1233521" y="3861075"/>
            <a:ext cx="22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600"/>
              <a:buFont typeface="Calibri"/>
              <a:buNone/>
            </a:pPr>
            <a:r>
              <a:rPr b="1" lang="en" sz="16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b="1" i="0" lang="en" sz="16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o situational awareness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4587150" y="3861075"/>
            <a:ext cx="3920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600"/>
              <a:buFont typeface="Calibri"/>
              <a:buNone/>
            </a:pPr>
            <a:r>
              <a:rPr b="1" lang="en" sz="16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Reliance on tactile lines that others disrespect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8" title="What does it mean to keep the tactile￼ lines for the blind free?￼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4875" y="1563488"/>
            <a:ext cx="3584950" cy="2016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8"/>
          <p:cNvSpPr txBox="1"/>
          <p:nvPr/>
        </p:nvSpPr>
        <p:spPr>
          <a:xfrm>
            <a:off x="5633100" y="4109950"/>
            <a:ext cx="1828500" cy="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B2"/>
                </a:solidFill>
                <a:latin typeface="Calibri"/>
                <a:ea typeface="Calibri"/>
                <a:cs typeface="Calibri"/>
                <a:sym typeface="Calibri"/>
              </a:rPr>
              <a:t>From Mr. Blind Life on YouTube</a:t>
            </a:r>
            <a:endParaRPr sz="1000">
              <a:solidFill>
                <a:srgbClr val="9AA3B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1233525" y="4109950"/>
            <a:ext cx="2215200" cy="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B2"/>
                </a:solidFill>
                <a:latin typeface="Calibri"/>
                <a:ea typeface="Calibri"/>
                <a:cs typeface="Calibri"/>
                <a:sym typeface="Calibri"/>
              </a:rPr>
              <a:t>From @twoblindbrothers on Instagram</a:t>
            </a:r>
            <a:endParaRPr sz="1000">
              <a:solidFill>
                <a:srgbClr val="9AA3B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8" title="no situational awareness example from twoblindbrothers on instagram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8650" y="1563488"/>
            <a:ext cx="3584950" cy="20165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457200" y="3657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i="0" lang="en" sz="36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All we need is a phone and a clamp.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9"/>
          <p:cNvSpPr/>
          <p:nvPr/>
        </p:nvSpPr>
        <p:spPr>
          <a:xfrm>
            <a:off x="457200" y="1417320"/>
            <a:ext cx="2560320" cy="2331720"/>
          </a:xfrm>
          <a:prstGeom prst="roundRect">
            <a:avLst>
              <a:gd fmla="val 5882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9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8288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/>
          <p:nvPr/>
        </p:nvSpPr>
        <p:spPr>
          <a:xfrm>
            <a:off x="731520" y="251460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Clamp it 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731520" y="292608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Any phone, any cane. Nothing custom to build or buy.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9"/>
          <p:cNvSpPr/>
          <p:nvPr/>
        </p:nvSpPr>
        <p:spPr>
          <a:xfrm>
            <a:off x="3291840" y="1417320"/>
            <a:ext cx="2560320" cy="2331720"/>
          </a:xfrm>
          <a:prstGeom prst="roundRect">
            <a:avLst>
              <a:gd fmla="val 5882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9"/>
          <p:cNvSpPr/>
          <p:nvPr/>
        </p:nvSpPr>
        <p:spPr>
          <a:xfrm>
            <a:off x="3566160" y="1645920"/>
            <a:ext cx="731520" cy="7315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49040" y="18288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/>
          <p:nvPr/>
        </p:nvSpPr>
        <p:spPr>
          <a:xfrm>
            <a:off x="3566160" y="251460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000"/>
              <a:buFont typeface="Calibri"/>
              <a:buNone/>
            </a:pPr>
            <a:r>
              <a:rPr b="1" lang="en" sz="20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b="1" i="0" lang="en" sz="20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atches ahead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9"/>
          <p:cNvSpPr txBox="1"/>
          <p:nvPr/>
        </p:nvSpPr>
        <p:spPr>
          <a:xfrm>
            <a:off x="3566160" y="292608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The camera scans continuously and AI vision flags hazards.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9"/>
          <p:cNvSpPr/>
          <p:nvPr/>
        </p:nvSpPr>
        <p:spPr>
          <a:xfrm>
            <a:off x="6126480" y="1417320"/>
            <a:ext cx="2560320" cy="2331720"/>
          </a:xfrm>
          <a:prstGeom prst="roundRect">
            <a:avLst>
              <a:gd fmla="val 5882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/>
          <p:cNvSpPr/>
          <p:nvPr/>
        </p:nvSpPr>
        <p:spPr>
          <a:xfrm>
            <a:off x="6400800" y="1645920"/>
            <a:ext cx="731520" cy="7315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4" name="Google Shape;12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83680" y="18288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9"/>
          <p:cNvSpPr txBox="1"/>
          <p:nvPr/>
        </p:nvSpPr>
        <p:spPr>
          <a:xfrm>
            <a:off x="6400800" y="251460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000"/>
              <a:buFont typeface="Calibri"/>
              <a:buNone/>
            </a:pPr>
            <a:r>
              <a:rPr b="1" lang="en" sz="20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b="1" i="0" lang="en" sz="20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ear changes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9"/>
          <p:cNvSpPr txBox="1"/>
          <p:nvPr/>
        </p:nvSpPr>
        <p:spPr>
          <a:xfrm>
            <a:off x="6400800" y="292608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Alerts only when something new appears, so it never turns into noise.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fmla="val 50000" name="adj"/>
            </a:avLst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9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151C"/>
              </a:buClr>
              <a:buSzPts val="1800"/>
              <a:buFont typeface="Calibri"/>
              <a:buNone/>
            </a:pPr>
            <a:r>
              <a:rPr b="1" lang="en" sz="1800">
                <a:solidFill>
                  <a:srgbClr val="12151C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1" i="0" lang="en" sz="1800" u="none" cap="none" strike="noStrike">
                <a:solidFill>
                  <a:srgbClr val="12151C"/>
                </a:solidFill>
                <a:latin typeface="Calibri"/>
                <a:ea typeface="Calibri"/>
                <a:cs typeface="Calibri"/>
                <a:sym typeface="Calibri"/>
              </a:rPr>
              <a:t>ap a button anytime </a:t>
            </a:r>
            <a:r>
              <a:rPr b="1" lang="en" sz="1800">
                <a:solidFill>
                  <a:srgbClr val="12151C"/>
                </a:solidFill>
                <a:latin typeface="Calibri"/>
                <a:ea typeface="Calibri"/>
                <a:cs typeface="Calibri"/>
                <a:sym typeface="Calibri"/>
              </a:rPr>
              <a:t>for a scan of your environment.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/>
        </p:nvSpPr>
        <p:spPr>
          <a:xfrm>
            <a:off x="457200" y="3657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i="0" lang="en" sz="36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Live demo: what you'll hear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0"/>
          <p:cNvSpPr/>
          <p:nvPr/>
        </p:nvSpPr>
        <p:spPr>
          <a:xfrm>
            <a:off x="457200" y="137160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0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7" name="Google Shape;13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5810" y="163449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640080" y="21031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Static object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640080" y="23774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Calls it out with direction and </a:t>
            </a:r>
            <a:r>
              <a:rPr lang="en" sz="11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distance.</a:t>
            </a: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0"/>
          <p:cNvSpPr/>
          <p:nvPr/>
        </p:nvSpPr>
        <p:spPr>
          <a:xfrm>
            <a:off x="2560320" y="137160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0"/>
          <p:cNvSpPr/>
          <p:nvPr/>
        </p:nvSpPr>
        <p:spPr>
          <a:xfrm>
            <a:off x="2743200" y="150876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68930" y="163449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/>
        </p:nvSpPr>
        <p:spPr>
          <a:xfrm>
            <a:off x="2743200" y="21031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Person approaching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0"/>
          <p:cNvSpPr txBox="1"/>
          <p:nvPr/>
        </p:nvSpPr>
        <p:spPr>
          <a:xfrm>
            <a:off x="2743200" y="23774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Warns as they close in</a:t>
            </a:r>
            <a:r>
              <a:rPr lang="en" sz="11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0"/>
          <p:cNvSpPr/>
          <p:nvPr/>
        </p:nvSpPr>
        <p:spPr>
          <a:xfrm>
            <a:off x="4663440" y="137160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7" name="Google Shape;14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72050" y="163449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0"/>
          <p:cNvSpPr txBox="1"/>
          <p:nvPr/>
        </p:nvSpPr>
        <p:spPr>
          <a:xfrm>
            <a:off x="4846320" y="21031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Stairs and curbs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4846320" y="23774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Flags the </a:t>
            </a:r>
            <a:r>
              <a:rPr lang="en" sz="11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elevation change </a:t>
            </a: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before you </a:t>
            </a: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step.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0"/>
          <p:cNvSpPr/>
          <p:nvPr/>
        </p:nvSpPr>
        <p:spPr>
          <a:xfrm>
            <a:off x="6766560" y="137160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0"/>
          <p:cNvSpPr/>
          <p:nvPr/>
        </p:nvSpPr>
        <p:spPr>
          <a:xfrm>
            <a:off x="6949440" y="150876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2" name="Google Shape;152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75170" y="163449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/>
          <p:nvPr/>
        </p:nvSpPr>
        <p:spPr>
          <a:xfrm>
            <a:off x="6949440" y="21031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Low overhang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0"/>
          <p:cNvSpPr txBox="1"/>
          <p:nvPr/>
        </p:nvSpPr>
        <p:spPr>
          <a:xfrm>
            <a:off x="6949440" y="237744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Catches what the cane can't reach.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457200" y="301752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0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7" name="Google Shape;157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5810" y="328041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640080" y="3749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Door location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40080" y="402336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Tells you where the door is.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2560320" y="301752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2743200" y="315468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2" name="Google Shape;162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68930" y="328041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0"/>
          <p:cNvSpPr txBox="1"/>
          <p:nvPr/>
        </p:nvSpPr>
        <p:spPr>
          <a:xfrm>
            <a:off x="2743200" y="3749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Floor clutter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0"/>
          <p:cNvSpPr txBox="1"/>
          <p:nvPr/>
        </p:nvSpPr>
        <p:spPr>
          <a:xfrm>
            <a:off x="2743200" y="402336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Calls out items on the ground.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4663440" y="301752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4846320" y="315468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7" name="Google Shape;167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2050" y="328041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0"/>
          <p:cNvSpPr txBox="1"/>
          <p:nvPr/>
        </p:nvSpPr>
        <p:spPr>
          <a:xfrm>
            <a:off x="4846320" y="3749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Nothing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4846320" y="402336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Stays quiet.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6766560" y="3017520"/>
            <a:ext cx="1920240" cy="1463040"/>
          </a:xfrm>
          <a:prstGeom prst="roundRect">
            <a:avLst>
              <a:gd fmla="val 7500" name="adj"/>
            </a:avLst>
          </a:prstGeom>
          <a:solidFill>
            <a:srgbClr val="1B1F2A"/>
          </a:solidFill>
          <a:ln cap="flat" cmpd="sng" w="12700">
            <a:solidFill>
              <a:srgbClr val="1B1F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0"/>
          <p:cNvSpPr/>
          <p:nvPr/>
        </p:nvSpPr>
        <p:spPr>
          <a:xfrm>
            <a:off x="6949440" y="3154680"/>
            <a:ext cx="502920" cy="50292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2" name="Google Shape;172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075170" y="328041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/>
          <p:nvPr/>
        </p:nvSpPr>
        <p:spPr>
          <a:xfrm>
            <a:off x="6949440" y="3749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Tap and ask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 txBox="1"/>
          <p:nvPr/>
        </p:nvSpPr>
        <p:spPr>
          <a:xfrm>
            <a:off x="6949440" y="402336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ED8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Describes the full scene on demand.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1"/>
          <p:cNvSpPr txBox="1"/>
          <p:nvPr/>
        </p:nvSpPr>
        <p:spPr>
          <a:xfrm>
            <a:off x="457200" y="3657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i="0" lang="en" sz="36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Why not what exists today?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457200" y="1371600"/>
            <a:ext cx="2560320" cy="3154680"/>
          </a:xfrm>
          <a:prstGeom prst="roundRect">
            <a:avLst>
              <a:gd fmla="val 5357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1"/>
          <p:cNvSpPr txBox="1"/>
          <p:nvPr/>
        </p:nvSpPr>
        <p:spPr>
          <a:xfrm>
            <a:off x="73152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Be My Eyes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 txBox="1"/>
          <p:nvPr/>
        </p:nvSpPr>
        <p:spPr>
          <a:xfrm>
            <a:off x="731520" y="20116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200"/>
              <a:buFont typeface="Cambria"/>
              <a:buNone/>
            </a:pPr>
            <a:r>
              <a:rPr b="1" lang="en" sz="2200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Relies on another human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731520" y="2697480"/>
            <a:ext cx="21031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Depends on an available person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60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High latency</a:t>
            </a: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 due to the live call function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3291840" y="1371600"/>
            <a:ext cx="2560320" cy="3154680"/>
          </a:xfrm>
          <a:prstGeom prst="roundRect">
            <a:avLst>
              <a:gd fmla="val 5357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356616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WeWALK Smart Cane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1"/>
          <p:cNvSpPr txBox="1"/>
          <p:nvPr/>
        </p:nvSpPr>
        <p:spPr>
          <a:xfrm>
            <a:off x="3566160" y="20116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$799 to $1,249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3566160" y="2697480"/>
            <a:ext cx="21031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Char char="•"/>
            </a:pP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Base price of</a:t>
            </a: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 $799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60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With AI included: up to $1,249 total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60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Char char="•"/>
            </a:pP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arlier model ($</a:t>
            </a: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599.95) </a:t>
            </a:r>
            <a:r>
              <a:rPr b="0" i="0" lang="en" sz="14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no longer offered on the official site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6126480" y="1371600"/>
            <a:ext cx="2560320" cy="3154680"/>
          </a:xfrm>
          <a:prstGeom prst="roundRect">
            <a:avLst>
              <a:gd fmla="val 5357" name="adj"/>
            </a:avLst>
          </a:prstGeom>
          <a:solidFill>
            <a:srgbClr val="1B1F2A"/>
          </a:solidFill>
          <a:ln cap="flat" cmpd="sng" w="12700">
            <a:solidFill>
              <a:srgbClr val="1B1F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1"/>
          <p:cNvSpPr txBox="1"/>
          <p:nvPr/>
        </p:nvSpPr>
        <p:spPr>
          <a:xfrm>
            <a:off x="640080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1" i="0" lang="en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1"/>
          <p:cNvSpPr txBox="1"/>
          <p:nvPr/>
        </p:nvSpPr>
        <p:spPr>
          <a:xfrm>
            <a:off x="6400800" y="20116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93C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C93C"/>
                </a:solidFill>
                <a:latin typeface="Cambria"/>
                <a:ea typeface="Cambria"/>
                <a:cs typeface="Cambria"/>
                <a:sym typeface="Cambria"/>
              </a:rPr>
              <a:t>Phone + clamp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 txBox="1"/>
          <p:nvPr/>
        </p:nvSpPr>
        <p:spPr>
          <a:xfrm>
            <a:off x="6400800" y="2697480"/>
            <a:ext cx="21031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C9CED8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Always on</a:t>
            </a:r>
            <a:r>
              <a:rPr b="0" i="0" lang="en" sz="14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" sz="14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no call nee</a:t>
            </a:r>
            <a:r>
              <a:rPr lang="en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600"/>
              </a:spcBef>
              <a:spcAft>
                <a:spcPts val="0"/>
              </a:spcAft>
              <a:buClr>
                <a:srgbClr val="C9CED8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Uses the phone you already own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600"/>
              </a:spcBef>
              <a:spcAft>
                <a:spcPts val="0"/>
              </a:spcAft>
              <a:buClr>
                <a:srgbClr val="C9CED8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rgbClr val="C9CED8"/>
                </a:solidFill>
                <a:latin typeface="Calibri"/>
                <a:ea typeface="Calibri"/>
                <a:cs typeface="Calibri"/>
                <a:sym typeface="Calibri"/>
              </a:rPr>
              <a:t>Hands-free hazard alerts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/>
        </p:nvSpPr>
        <p:spPr>
          <a:xfrm>
            <a:off x="457200" y="365760"/>
            <a:ext cx="8046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3600"/>
              <a:buFont typeface="Cambria"/>
              <a:buNone/>
            </a:pPr>
            <a:r>
              <a:rPr b="1" lang="en" sz="3600">
                <a:solidFill>
                  <a:srgbClr val="1B1F2A"/>
                </a:solidFill>
                <a:latin typeface="Cambria"/>
                <a:ea typeface="Cambria"/>
                <a:cs typeface="Cambria"/>
                <a:sym typeface="Cambria"/>
              </a:rPr>
              <a:t>Where we take it next</a:t>
            </a:r>
            <a:endParaRPr b="1" sz="3600">
              <a:solidFill>
                <a:srgbClr val="1B1F2A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9" name="Google Shape;199;p22"/>
          <p:cNvSpPr/>
          <p:nvPr/>
        </p:nvSpPr>
        <p:spPr>
          <a:xfrm>
            <a:off x="457200" y="1405950"/>
            <a:ext cx="3870900" cy="2331600"/>
          </a:xfrm>
          <a:prstGeom prst="roundRect">
            <a:avLst>
              <a:gd fmla="val 5882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2"/>
          <p:cNvSpPr/>
          <p:nvPr/>
        </p:nvSpPr>
        <p:spPr>
          <a:xfrm>
            <a:off x="731510" y="1634545"/>
            <a:ext cx="731400" cy="73140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731510" y="2503225"/>
            <a:ext cx="2103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000"/>
              <a:buFont typeface="Calibri"/>
              <a:buNone/>
            </a:pPr>
            <a:r>
              <a:rPr b="1" lang="en" sz="20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Navigation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731495" y="2914700"/>
            <a:ext cx="3157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Assist with t</a:t>
            </a: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raffic signals and directions. Can be integrated with existing systems (e.g. Apple Maps API).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t/>
            </a:r>
            <a:endParaRPr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2"/>
          <p:cNvSpPr/>
          <p:nvPr/>
        </p:nvSpPr>
        <p:spPr>
          <a:xfrm>
            <a:off x="4790875" y="1405950"/>
            <a:ext cx="3870900" cy="2331600"/>
          </a:xfrm>
          <a:prstGeom prst="roundRect">
            <a:avLst>
              <a:gd fmla="val 5882" name="adj"/>
            </a:avLst>
          </a:prstGeom>
          <a:solidFill>
            <a:srgbClr val="F1F3F6"/>
          </a:solidFill>
          <a:ln cap="flat" cmpd="sng" w="12700">
            <a:solidFill>
              <a:srgbClr val="F1F3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5065200" y="1634545"/>
            <a:ext cx="731400" cy="73140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2"/>
          <p:cNvSpPr txBox="1"/>
          <p:nvPr/>
        </p:nvSpPr>
        <p:spPr>
          <a:xfrm>
            <a:off x="5065200" y="2503225"/>
            <a:ext cx="2103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1F2A"/>
              </a:buClr>
              <a:buSzPts val="2000"/>
              <a:buFont typeface="Calibri"/>
              <a:buNone/>
            </a:pPr>
            <a:r>
              <a:rPr b="1" lang="en" sz="2000">
                <a:solidFill>
                  <a:srgbClr val="1B1F2A"/>
                </a:solidFill>
                <a:latin typeface="Calibri"/>
                <a:ea typeface="Calibri"/>
                <a:cs typeface="Calibri"/>
                <a:sym typeface="Calibri"/>
              </a:rPr>
              <a:t>Personalization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5065200" y="2914700"/>
            <a:ext cx="3438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Create an audio-guided accessibility settings page to adjust</a:t>
            </a:r>
            <a:r>
              <a:rPr lang="en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 the voice, speed, volume, and vibration.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t/>
            </a:r>
            <a:endParaRPr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2"/>
          <p:cNvSpPr/>
          <p:nvPr/>
        </p:nvSpPr>
        <p:spPr>
          <a:xfrm>
            <a:off x="457200" y="4023360"/>
            <a:ext cx="8229600" cy="548700"/>
          </a:xfrm>
          <a:prstGeom prst="roundRect">
            <a:avLst>
              <a:gd fmla="val 50000" name="adj"/>
            </a:avLst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457200" y="4023360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12151C"/>
              </a:buClr>
              <a:buSzPts val="1800"/>
              <a:buFont typeface="Calibri"/>
              <a:buNone/>
            </a:pPr>
            <a:r>
              <a:rPr b="1" lang="en" sz="1800">
                <a:solidFill>
                  <a:srgbClr val="12151C"/>
                </a:solidFill>
                <a:latin typeface="Calibri"/>
                <a:ea typeface="Calibri"/>
                <a:cs typeface="Calibri"/>
                <a:sym typeface="Calibri"/>
              </a:rPr>
              <a:t>First step to deployment: test and design with blind and low-vision users.</a:t>
            </a:r>
            <a:endParaRPr b="1" sz="1800">
              <a:solidFill>
                <a:srgbClr val="12151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9" name="Google Shape;20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7195" y="1840232"/>
            <a:ext cx="320040" cy="3200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0" name="Google Shape;21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70860" y="1840232"/>
            <a:ext cx="320040" cy="320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1C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3"/>
          <p:cNvSpPr/>
          <p:nvPr/>
        </p:nvSpPr>
        <p:spPr>
          <a:xfrm>
            <a:off x="5806440" y="73152"/>
            <a:ext cx="2560320" cy="256032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3"/>
          <p:cNvSpPr/>
          <p:nvPr/>
        </p:nvSpPr>
        <p:spPr>
          <a:xfrm>
            <a:off x="6172200" y="438912"/>
            <a:ext cx="1828800" cy="182880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3"/>
          <p:cNvSpPr/>
          <p:nvPr/>
        </p:nvSpPr>
        <p:spPr>
          <a:xfrm>
            <a:off x="6537960" y="804672"/>
            <a:ext cx="1097280" cy="1097280"/>
          </a:xfrm>
          <a:prstGeom prst="ellipse">
            <a:avLst/>
          </a:prstGeom>
          <a:solidFill>
            <a:srgbClr val="12151C">
              <a:alpha val="0"/>
            </a:srgbClr>
          </a:solidFill>
          <a:ln cap="flat" cmpd="sng" w="19050">
            <a:solidFill>
              <a:srgbClr val="FFC93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3"/>
          <p:cNvSpPr/>
          <p:nvPr/>
        </p:nvSpPr>
        <p:spPr>
          <a:xfrm>
            <a:off x="7022592" y="1097280"/>
            <a:ext cx="128016" cy="3749040"/>
          </a:xfrm>
          <a:prstGeom prst="rect">
            <a:avLst/>
          </a:prstGeom>
          <a:solidFill>
            <a:srgbClr val="C9CED8"/>
          </a:solidFill>
          <a:ln cap="flat" cmpd="sng" w="12700">
            <a:solidFill>
              <a:srgbClr val="C9C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3"/>
          <p:cNvSpPr/>
          <p:nvPr/>
        </p:nvSpPr>
        <p:spPr>
          <a:xfrm>
            <a:off x="6629400" y="1097280"/>
            <a:ext cx="914400" cy="1737360"/>
          </a:xfrm>
          <a:prstGeom prst="roundRect">
            <a:avLst>
              <a:gd fmla="val 12000" name="adj"/>
            </a:avLst>
          </a:prstGeom>
          <a:solidFill>
            <a:srgbClr val="232833"/>
          </a:solidFill>
          <a:ln cap="flat" cmpd="sng" w="254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3"/>
          <p:cNvSpPr/>
          <p:nvPr/>
        </p:nvSpPr>
        <p:spPr>
          <a:xfrm>
            <a:off x="6537960" y="2468880"/>
            <a:ext cx="1097280" cy="201168"/>
          </a:xfrm>
          <a:prstGeom prst="roundRect">
            <a:avLst>
              <a:gd fmla="val 22727" name="adj"/>
            </a:avLst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3"/>
          <p:cNvSpPr/>
          <p:nvPr/>
        </p:nvSpPr>
        <p:spPr>
          <a:xfrm>
            <a:off x="6995160" y="1261872"/>
            <a:ext cx="182880" cy="182880"/>
          </a:xfrm>
          <a:prstGeom prst="ellipse">
            <a:avLst/>
          </a:prstGeom>
          <a:solidFill>
            <a:srgbClr val="FFC93C"/>
          </a:solidFill>
          <a:ln cap="flat" cmpd="sng" w="12700">
            <a:solidFill>
              <a:srgbClr val="FFC9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640080" y="1280160"/>
            <a:ext cx="51206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cane </a:t>
            </a:r>
            <a:r>
              <a:rPr b="1" lang="en" sz="3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only </a:t>
            </a:r>
            <a:r>
              <a:rPr b="1" i="0" lang="en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tells you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what it touches.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93C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C93C"/>
                </a:solidFill>
                <a:latin typeface="Cambria"/>
                <a:ea typeface="Cambria"/>
                <a:cs typeface="Cambria"/>
                <a:sym typeface="Cambria"/>
              </a:rPr>
              <a:t>Now it can </a:t>
            </a:r>
            <a:r>
              <a:rPr b="1" lang="en" sz="3400">
                <a:solidFill>
                  <a:srgbClr val="FFC93C"/>
                </a:solidFill>
                <a:latin typeface="Cambria"/>
                <a:ea typeface="Cambria"/>
                <a:cs typeface="Cambria"/>
                <a:sym typeface="Cambria"/>
              </a:rPr>
              <a:t>t</a:t>
            </a:r>
            <a:r>
              <a:rPr b="1" i="0" lang="en" sz="3400" u="none" cap="none" strike="noStrike">
                <a:solidFill>
                  <a:srgbClr val="FFC93C"/>
                </a:solidFill>
                <a:latin typeface="Cambria"/>
                <a:ea typeface="Cambria"/>
                <a:cs typeface="Cambria"/>
                <a:sym typeface="Cambria"/>
              </a:rPr>
              <a:t>ell you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93C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C93C"/>
                </a:solidFill>
                <a:latin typeface="Cambria"/>
                <a:ea typeface="Cambria"/>
                <a:cs typeface="Cambria"/>
                <a:sym typeface="Cambria"/>
              </a:rPr>
              <a:t>what's ahead.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3"/>
          <p:cNvSpPr txBox="1"/>
          <p:nvPr/>
        </p:nvSpPr>
        <p:spPr>
          <a:xfrm>
            <a:off x="640080" y="4389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A3B2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9AA3B2"/>
                </a:solidFill>
                <a:latin typeface="Calibri"/>
                <a:ea typeface="Calibri"/>
                <a:cs typeface="Calibri"/>
                <a:sym typeface="Calibri"/>
              </a:rPr>
              <a:t>Tanmay  ·  Abhishek  ·  Yakshil  ·  Abigail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